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7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4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tarde, professora. Nosso trabalho é o Meu Banco, uma aplicação desktop feita em JavaFX, conectada ao PostgreSQL, usando os padrões MVC e DAO. Apresentem-se, digam o nome do grupo e a disciplina. Preencham os dados entre colchetes antes de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em uma frase o sistema: é um banco simples, no estilo de um app de banco digital. Mostre o print da tela principal, com o saldo no topo e os botões de depositar, sacar e transferir. Cite as tecnologias: Java, JavaFX com FXML para as telas, PostgreSQL como banco, JDBC para a conexão e Maven para gerenciar as dependências. Troque o espaço tracejado pelo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diagrama UML do projeto. O Model guarda os dados, a View é o que o usuário vê, e o Controller faz a ponte: recebe a ação do usuário, chama o Model e o DAO e atualiza a tela. Se quiserem, atualizem o diagrama com TelaCadastro e CadastroController, que entraram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FD0F-4C7C-75BB-D290-416C753D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3C6B2-96F9-7364-943D-DC5D11C24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1765D-EC72-68A5-AB46-178697D13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diagrama UML do projeto. O Model guarda os dados, a View é o que o usuário vê, e o Controller faz a ponte: recebe a ação do usuário, chama o Model e o DAO e atualiza a tela. Se quiserem, atualizem o diagrama com TelaCadastro e CadastroController, que entraram depois.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C8AE6-8300-EC4B-DB20-C877F3C1E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49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modelo do banco, chamado banco_db. Cada cliente tem exatamente uma conta, ligada pela chave estrangeira cliente_id. O CPF e o número da conta são únicos. O banco ainda protege o saldo com a regra CHECK, que impede valor negativo. Se o cliente for excluído, a conta vai junto, por causa do ON DELETE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pede CRUD de duas entidades relacionadas. Create é o cadastro: criamos o cliente e a conta de uma vez. Read é o login, o saldo e a busca do destinatário. Update é editar o perfil e também toda movimentação de dinheiro. Delete é excluir a própria conta. Tudo isso passa pelos métodos do DAO.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Troquem cada espaço tracejado pelo print da tela correspondente. Antes de tirar os prints, cadastrem duas contas de teste e façam um depósito, para a transferência aparecer com dados reais. Durante a apresentação, se der, mostrem o sistema funcionando ao vivo: cadastro, login, depósito, saque e uma transferência entre as duas contas.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C131-8DA3-6CBF-98F1-DD066452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8CEEB-C0E1-C7E5-92AD-76C2B48F5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32A3D-A185-58AC-AB15-85E7AFCB3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Troquem cada espaço tracejado pelo print da tela correspondente. Antes de tirar os prints, cadastrem duas contas de teste e façam um depósito, para a transferência aparecer com dados reais. Durante a apresentação, se der, mostrem o sistema funcionando ao vivo: cadastro, login, depósito, saque e uma transferência entre as duas contas.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72137-1F97-6046-BCBE-D21E282BC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0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pede pelo menos uma funcionalidade adicional por integrante. Implementamos cinco: ocultar o saldo, editar o perfil, confirmar o nome do destinatário antes de transferir, excluir a conta com confirmação e a validação dos campos. Se o grupo tiver mais de cinco integrantes, avisem a professora ou adicionem mais extras ao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exige tratamento de exceções nas operações com o banco. Todo método do DAO captura SQLException e lança nossa DaoException com uma mensagem amigável, que o controller mostra em um alerta. Além disso, o sistema valida as regras de negócio antes de tocar no banco: saldo suficiente, CPF com 11 números e não repetido, valor positivo e destinatário diferente do remetente.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resumindo o que aprendemos: separar responsabilidades com MVC e DAO, integrar JavaFX com o PostgreSQL por JDBC e tratar os erros do banco com mensagens claras. Agradeça e abra para perguntas. O link do repositório está no rodapé.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474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46580"/>
            <a:ext cx="10566400" cy="419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9474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46580"/>
            <a:ext cx="10566400" cy="419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>
            <a:spLocks noGrp="1"/>
          </p:cNvSpPr>
          <p:nvPr>
            <p:ph type="title"/>
          </p:nvPr>
        </p:nvSpPr>
        <p:spPr>
          <a:xfrm>
            <a:off x="3064387" y="2453640"/>
            <a:ext cx="654050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9240"/>
              </a:lnSpc>
              <a:buNone/>
            </a:pPr>
            <a:r>
              <a:rPr lang="en-US" sz="8800" b="1" i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Meu Banco</a:t>
            </a:r>
            <a:endParaRPr lang="en-US" sz="8800" dirty="0"/>
          </a:p>
        </p:txBody>
      </p:sp>
      <p:sp>
        <p:nvSpPr>
          <p:cNvPr id="6" name="Text 2"/>
          <p:cNvSpPr/>
          <p:nvPr/>
        </p:nvSpPr>
        <p:spPr>
          <a:xfrm>
            <a:off x="3064387" y="3830320"/>
            <a:ext cx="65405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60"/>
              </a:lnSpc>
              <a:buNone/>
            </a:pPr>
            <a:r>
              <a:rPr lang="en-US" sz="22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de banco em JavaFX e PostgreSQL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068078" y="4485640"/>
            <a:ext cx="2055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A3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Gustavo </a:t>
            </a:r>
            <a:r>
              <a:rPr lang="en-US" sz="1400" dirty="0" err="1">
                <a:solidFill>
                  <a:srgbClr val="BFA3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Ynada</a:t>
            </a:r>
            <a:r>
              <a:rPr lang="en-US" sz="1400" dirty="0">
                <a:solidFill>
                  <a:srgbClr val="BFA3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Barbosa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74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JavaFX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3275" y="2551430"/>
            <a:ext cx="62788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8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implementação</a:t>
            </a:r>
            <a:r>
              <a:rPr lang="en-US" sz="18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contém</a:t>
            </a:r>
            <a:r>
              <a:rPr lang="en-US" sz="18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</a:p>
        </p:txBody>
      </p:sp>
      <p:sp>
        <p:nvSpPr>
          <p:cNvPr id="5" name="Text 3"/>
          <p:cNvSpPr/>
          <p:nvPr/>
        </p:nvSpPr>
        <p:spPr>
          <a:xfrm>
            <a:off x="898747" y="2884170"/>
            <a:ext cx="6214364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04" indent="-197104" algn="l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e login</a:t>
            </a:r>
            <a:endParaRPr lang="en-US" sz="1700" dirty="0"/>
          </a:p>
          <a:p>
            <a:pPr marL="197104" indent="-197104" algn="l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Saldo da </a:t>
            </a:r>
            <a:r>
              <a:rPr lang="en-US" sz="17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</a:t>
            </a:r>
            <a:endParaRPr lang="en-US" sz="1700" dirty="0"/>
          </a:p>
          <a:p>
            <a:pPr marL="197104" indent="-197104" algn="l">
              <a:lnSpc>
                <a:spcPts val="2720"/>
              </a:lnSpc>
              <a:buSzPct val="100000"/>
              <a:buChar char="•"/>
            </a:pPr>
            <a:r>
              <a:rPr lang="en-US" sz="17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Depósito</a:t>
            </a:r>
            <a:r>
              <a:rPr lang="en-US" sz="17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7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saque</a:t>
            </a:r>
            <a:endParaRPr lang="en-US" sz="1700" dirty="0">
              <a:solidFill>
                <a:srgbClr val="5B4A6B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197104" indent="-197104" algn="l">
              <a:lnSpc>
                <a:spcPts val="2720"/>
              </a:lnSpc>
              <a:buSzPct val="100000"/>
              <a:buChar char="•"/>
            </a:pPr>
            <a:r>
              <a:rPr lang="en-US" sz="17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Transferência</a:t>
            </a:r>
            <a:r>
              <a:rPr lang="en-US" sz="17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pelo CPF do destinatário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24725" y="1856105"/>
            <a:ext cx="4044950" cy="3155950"/>
          </a:xfrm>
          <a:prstGeom prst="roundRect">
            <a:avLst>
              <a:gd name="adj" fmla="val 4527"/>
            </a:avLst>
          </a:prstGeom>
          <a:solidFill>
            <a:srgbClr val="EDE3F7"/>
          </a:solidFill>
          <a:ln w="19050">
            <a:solidFill>
              <a:srgbClr val="820AD1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[INSERIR PRINT DA TELA PRINCIPAL]</a:t>
            </a:r>
            <a:endParaRPr lang="en-US" sz="14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B0EB338-9F54-A126-4EC7-BDF4E12A5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111" y="949862"/>
            <a:ext cx="4275614" cy="4958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B43CEC43-F801-248B-6094-42D69753E9F8}"/>
              </a:ext>
            </a:extLst>
          </p:cNvPr>
          <p:cNvSpPr/>
          <p:nvPr/>
        </p:nvSpPr>
        <p:spPr>
          <a:xfrm>
            <a:off x="4947280" y="2145594"/>
            <a:ext cx="2297438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5692500C-54C4-1F2F-44A6-9B94A7A2E7A6}"/>
              </a:ext>
            </a:extLst>
          </p:cNvPr>
          <p:cNvSpPr/>
          <p:nvPr/>
        </p:nvSpPr>
        <p:spPr>
          <a:xfrm>
            <a:off x="8041182" y="2145593"/>
            <a:ext cx="2297438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585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520"/>
              </a:lnSpc>
              <a:buNone/>
            </a:pPr>
            <a:r>
              <a:rPr lang="en-US" sz="3200" b="1" i="0" dirty="0" err="1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Padrão</a:t>
            </a: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MVC</a:t>
            </a:r>
            <a:endParaRPr lang="en-US" sz="32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358FC742-44C8-EE5E-A84B-2D72DF60F93C}"/>
              </a:ext>
            </a:extLst>
          </p:cNvPr>
          <p:cNvSpPr/>
          <p:nvPr/>
        </p:nvSpPr>
        <p:spPr>
          <a:xfrm>
            <a:off x="4791569" y="2126741"/>
            <a:ext cx="2608860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95A84467-4FFF-E5F5-CC65-ED299F550672}"/>
              </a:ext>
            </a:extLst>
          </p:cNvPr>
          <p:cNvSpPr/>
          <p:nvPr/>
        </p:nvSpPr>
        <p:spPr>
          <a:xfrm>
            <a:off x="5212065" y="2340891"/>
            <a:ext cx="1767868" cy="402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2400" b="1" dirty="0">
                <a:solidFill>
                  <a:srgbClr val="820AD1"/>
                </a:solidFill>
                <a:latin typeface="DM Sans" pitchFamily="34" charset="0"/>
              </a:rPr>
              <a:t>View</a:t>
            </a:r>
            <a:endParaRPr lang="en-US" sz="24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F588315B-B925-CF1F-D7ED-10F0B1A02284}"/>
              </a:ext>
            </a:extLst>
          </p:cNvPr>
          <p:cNvSpPr/>
          <p:nvPr/>
        </p:nvSpPr>
        <p:spPr>
          <a:xfrm>
            <a:off x="5212065" y="2743401"/>
            <a:ext cx="1856359" cy="1651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endParaRPr lang="pt-BR" sz="2000" dirty="0">
              <a:solidFill>
                <a:srgbClr val="5B4A6B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ctr">
              <a:lnSpc>
                <a:spcPts val="1820"/>
              </a:lnSpc>
              <a:buNone/>
            </a:pPr>
            <a:r>
              <a:rPr lang="pt-BR" sz="20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TelaLogin</a:t>
            </a:r>
            <a:r>
              <a:rPr lang="pt-BR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pt-BR" sz="20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TelaCadastro</a:t>
            </a:r>
            <a:r>
              <a:rPr lang="pt-BR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pt-BR" sz="20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TelaMenu</a:t>
            </a:r>
            <a:r>
              <a:rPr lang="pt-BR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pt-BR" sz="20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TelaPix</a:t>
            </a:r>
            <a:r>
              <a:rPr lang="pt-BR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0" indent="0" algn="ctr">
              <a:lnSpc>
                <a:spcPts val="1820"/>
              </a:lnSpc>
              <a:buNone/>
            </a:pP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4DAC3F4-8625-3BE7-47A1-0739898B2376}"/>
              </a:ext>
            </a:extLst>
          </p:cNvPr>
          <p:cNvSpPr/>
          <p:nvPr/>
        </p:nvSpPr>
        <p:spPr>
          <a:xfrm>
            <a:off x="1853380" y="2145594"/>
            <a:ext cx="2297438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4C8E23A6-456D-AC79-F05C-D4B37AE863BD}"/>
              </a:ext>
            </a:extLst>
          </p:cNvPr>
          <p:cNvSpPr/>
          <p:nvPr/>
        </p:nvSpPr>
        <p:spPr>
          <a:xfrm>
            <a:off x="1697669" y="2126741"/>
            <a:ext cx="2608860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406D4624-1E71-2312-BDC5-60EFC8798F32}"/>
              </a:ext>
            </a:extLst>
          </p:cNvPr>
          <p:cNvSpPr/>
          <p:nvPr/>
        </p:nvSpPr>
        <p:spPr>
          <a:xfrm>
            <a:off x="2118165" y="2340891"/>
            <a:ext cx="1767868" cy="402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2400" b="1" dirty="0">
                <a:solidFill>
                  <a:srgbClr val="820AD1"/>
                </a:solidFill>
                <a:latin typeface="DM Sans" pitchFamily="34" charset="0"/>
              </a:rPr>
              <a:t>Model</a:t>
            </a:r>
            <a:endParaRPr lang="en-US" sz="24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36CA92A7-0F73-3DAF-3DAC-A5854599EDF1}"/>
              </a:ext>
            </a:extLst>
          </p:cNvPr>
          <p:cNvSpPr/>
          <p:nvPr/>
        </p:nvSpPr>
        <p:spPr>
          <a:xfrm>
            <a:off x="2118165" y="2743401"/>
            <a:ext cx="1856359" cy="1651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endParaRPr lang="pt-BR" sz="2000" dirty="0">
              <a:solidFill>
                <a:srgbClr val="5B4A6B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ctr">
              <a:lnSpc>
                <a:spcPts val="1820"/>
              </a:lnSpc>
              <a:buNone/>
            </a:pPr>
            <a:r>
              <a:rPr lang="pt-BR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e Conta</a:t>
            </a:r>
          </a:p>
          <a:p>
            <a:pPr marL="0" indent="0" algn="ctr">
              <a:lnSpc>
                <a:spcPts val="1820"/>
              </a:lnSpc>
              <a:buNone/>
            </a:pP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1D5A09A9-C0C7-B6B8-B798-87A2F53DF42D}"/>
              </a:ext>
            </a:extLst>
          </p:cNvPr>
          <p:cNvSpPr/>
          <p:nvPr/>
        </p:nvSpPr>
        <p:spPr>
          <a:xfrm>
            <a:off x="8041180" y="2173829"/>
            <a:ext cx="2297438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EB7E4646-0038-D643-2A2D-676BE0A39042}"/>
              </a:ext>
            </a:extLst>
          </p:cNvPr>
          <p:cNvSpPr/>
          <p:nvPr/>
        </p:nvSpPr>
        <p:spPr>
          <a:xfrm>
            <a:off x="7885469" y="2154976"/>
            <a:ext cx="2608860" cy="2566811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7AE7D482-7433-AEF3-B8EA-97210BD20A06}"/>
              </a:ext>
            </a:extLst>
          </p:cNvPr>
          <p:cNvSpPr/>
          <p:nvPr/>
        </p:nvSpPr>
        <p:spPr>
          <a:xfrm>
            <a:off x="8305965" y="2369126"/>
            <a:ext cx="1767868" cy="402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2400" b="1" dirty="0">
                <a:solidFill>
                  <a:srgbClr val="820AD1"/>
                </a:solidFill>
                <a:latin typeface="DM Sans" pitchFamily="34" charset="0"/>
              </a:rPr>
              <a:t>Controller</a:t>
            </a:r>
            <a:endParaRPr lang="en-US" sz="2400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BB9824BC-F389-B68D-6735-D4D22569D799}"/>
              </a:ext>
            </a:extLst>
          </p:cNvPr>
          <p:cNvSpPr/>
          <p:nvPr/>
        </p:nvSpPr>
        <p:spPr>
          <a:xfrm>
            <a:off x="8083012" y="2756059"/>
            <a:ext cx="2297438" cy="1651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endParaRPr lang="pt-BR" sz="2000" dirty="0">
              <a:solidFill>
                <a:srgbClr val="5B4A6B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ctr">
              <a:lnSpc>
                <a:spcPts val="1820"/>
              </a:lnSpc>
              <a:buNone/>
            </a:pPr>
            <a:r>
              <a:rPr lang="it-IT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LoginController, CadastroControlle, MenusController </a:t>
            </a:r>
          </a:p>
          <a:p>
            <a:pPr marL="0" indent="0" algn="ctr">
              <a:lnSpc>
                <a:spcPts val="1820"/>
              </a:lnSpc>
              <a:buNone/>
            </a:pPr>
            <a:r>
              <a:rPr lang="it-IT" sz="20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PixController</a:t>
            </a: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D9067-913F-EBAA-61DE-58A93933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D918EC-BA2B-45E8-93C2-BF3AA682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19" y="319278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MVC e DAO</a:t>
            </a:r>
            <a:endParaRPr lang="en-US" sz="3200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EFB7E1BA-E350-51B9-663A-D1FC01A1C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8" b="1328"/>
          <a:stretch/>
        </p:blipFill>
        <p:spPr>
          <a:xfrm>
            <a:off x="4277032" y="183694"/>
            <a:ext cx="7313366" cy="6490612"/>
          </a:xfrm>
          <a:prstGeom prst="roundRect">
            <a:avLst>
              <a:gd name="adj" fmla="val 3521"/>
            </a:avLst>
          </a:prstGeom>
        </p:spPr>
      </p:pic>
    </p:spTree>
    <p:extLst>
      <p:ext uri="{BB962C8B-B14F-4D97-AF65-F5344CB8AC3E}">
        <p14:creationId xmlns:p14="http://schemas.microsoft.com/office/powerpoint/2010/main" val="240086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9094" y="95345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b="1" dirty="0" err="1"/>
              <a:t>Tabelas</a:t>
            </a:r>
            <a:r>
              <a:rPr lang="en-US" b="1" dirty="0"/>
              <a:t> do Banco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65325"/>
            <a:ext cx="4987052" cy="2606040"/>
          </a:xfrm>
          <a:prstGeom prst="roundRect">
            <a:avLst>
              <a:gd name="adj" fmla="val 4751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70432"/>
            <a:ext cx="471414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31240" y="2581910"/>
          <a:ext cx="4566682" cy="1784350"/>
        </p:xfrm>
        <a:graphic>
          <a:graphicData uri="http://schemas.openxmlformats.org/drawingml/2006/table">
            <a:tbl>
              <a:tblPr/>
              <a:tblGrid>
                <a:gridCol w="146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Campo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Regra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SERIAL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chave primária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nome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VARCHAR(100)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obrigatório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cpf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VARCHAR(11)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único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senha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VARCHAR(64)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obrigatório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31130" y="3072764"/>
            <a:ext cx="32966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1:1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388894" y="1849757"/>
            <a:ext cx="4987131" cy="28371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93999" y="2054861"/>
            <a:ext cx="471422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</a:t>
            </a:r>
            <a:endParaRPr lang="en-US" sz="18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159" y="2466342"/>
          <a:ext cx="4566762" cy="2015490"/>
        </p:xfrm>
        <a:graphic>
          <a:graphicData uri="http://schemas.openxmlformats.org/drawingml/2006/table">
            <a:tbl>
              <a:tblPr/>
              <a:tblGrid>
                <a:gridCol w="14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Campo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Regra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SERIAL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chave primária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numero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VARCHAR(10)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único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saldo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NUMERIC(15,2)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nunca negativo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cliente_id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chave estrangeira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73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o CRUD aparece no sistema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578946"/>
              </p:ext>
            </p:extLst>
          </p:nvPr>
        </p:nvGraphicFramePr>
        <p:xfrm>
          <a:off x="822960" y="1856742"/>
          <a:ext cx="10556240" cy="1784350"/>
        </p:xfrm>
        <a:graphic>
          <a:graphicData uri="http://schemas.openxmlformats.org/drawingml/2006/table">
            <a:tbl>
              <a:tblPr/>
              <a:tblGrid>
                <a:gridCol w="168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Operação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 que o usuário faz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Método</a:t>
                      </a:r>
                      <a:r>
                        <a:rPr lang="en-US" sz="1300" b="1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do DAO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Cadastra o cliente e a conta é criada automaticamente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ClienteDAO.inserir e ContaDAO.inserir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Faz login, vê o saldo e busca o destinatário pelo CPF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buscarPorCpf e buscarPorClienteId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Update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Edita o nome, deposita, saca e transfere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atualizar, depositar, sacar e transferir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Delete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Exclui a própria conta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A1A3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excluir, na conta e no cliente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75462" y="46481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de Login e </a:t>
            </a:r>
            <a:r>
              <a:rPr lang="en-US" sz="3200" b="1" i="0" dirty="0" err="1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2948" y="5521960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2400" b="1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2948" y="5909445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1680"/>
              </a:lnSpc>
            </a:pP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Entra com CPF e </a:t>
            </a:r>
            <a:r>
              <a:rPr lang="en-US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</a:t>
            </a:r>
            <a:r>
              <a:rPr lang="en-US" sz="12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4A3F9A6-F837-7C46-8370-8A5440004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4" t="6441" r="4574" b="6987"/>
          <a:stretch>
            <a:fillRect/>
          </a:stretch>
        </p:blipFill>
        <p:spPr>
          <a:xfrm>
            <a:off x="1714492" y="1201420"/>
            <a:ext cx="3700788" cy="409842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5B264C7-10F0-AC67-0F18-A5796DD8BF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10" b="5310"/>
          <a:stretch>
            <a:fillRect/>
          </a:stretch>
        </p:blipFill>
        <p:spPr>
          <a:xfrm>
            <a:off x="6530332" y="1201420"/>
            <a:ext cx="3700788" cy="4098425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B43B8C23-95E5-430A-F7E9-4E816D79BD97}"/>
              </a:ext>
            </a:extLst>
          </p:cNvPr>
          <p:cNvSpPr/>
          <p:nvPr/>
        </p:nvSpPr>
        <p:spPr>
          <a:xfrm>
            <a:off x="7180068" y="5521960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2400" b="1" dirty="0" err="1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</a:t>
            </a:r>
            <a:endParaRPr lang="en-US" sz="24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A4B7C9C8-0C25-8161-6046-A811DD3A09E7}"/>
              </a:ext>
            </a:extLst>
          </p:cNvPr>
          <p:cNvSpPr/>
          <p:nvPr/>
        </p:nvSpPr>
        <p:spPr>
          <a:xfrm>
            <a:off x="7180068" y="5909445"/>
            <a:ext cx="2563876" cy="48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ts val="1680"/>
              </a:lnSpc>
            </a:pP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 um novo CPF </a:t>
            </a:r>
            <a:r>
              <a:rPr lang="en-US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cria</a:t>
            </a: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</a:t>
            </a:r>
            <a:r>
              <a:rPr lang="en-US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A74D6-D447-928C-2423-10A07B10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85595-4387-FDC1-B386-A86F4520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75184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principal e </a:t>
            </a:r>
            <a:r>
              <a:rPr lang="en-US" b="1" dirty="0"/>
              <a:t>T</a:t>
            </a: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ela de </a:t>
            </a:r>
            <a:r>
              <a:rPr lang="en-US" sz="3200" b="1" i="0" dirty="0" err="1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Transferência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4C38D1-BDEE-DADC-6582-E80C26CE2183}"/>
              </a:ext>
            </a:extLst>
          </p:cNvPr>
          <p:cNvSpPr/>
          <p:nvPr/>
        </p:nvSpPr>
        <p:spPr>
          <a:xfrm>
            <a:off x="2489057" y="4996182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principal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270D08-8085-3331-0537-4DD42F987382}"/>
              </a:ext>
            </a:extLst>
          </p:cNvPr>
          <p:cNvSpPr/>
          <p:nvPr/>
        </p:nvSpPr>
        <p:spPr>
          <a:xfrm>
            <a:off x="2489057" y="5341621"/>
            <a:ext cx="25638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Saldo no topo e botões Depositar, Sacar e Transferir.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D4DCD42-8576-3D24-CD84-B78D8CEC4661}"/>
              </a:ext>
            </a:extLst>
          </p:cNvPr>
          <p:cNvSpPr/>
          <p:nvPr/>
        </p:nvSpPr>
        <p:spPr>
          <a:xfrm>
            <a:off x="6849366" y="4991658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Transferência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D09D05-B075-EC3C-191A-87658A0BA52E}"/>
              </a:ext>
            </a:extLst>
          </p:cNvPr>
          <p:cNvSpPr/>
          <p:nvPr/>
        </p:nvSpPr>
        <p:spPr>
          <a:xfrm>
            <a:off x="6849366" y="5343190"/>
            <a:ext cx="25638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Pede o CPF do destinatário e o valor.</a:t>
            </a:r>
            <a:endParaRPr lang="en-US" sz="12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255D90A-7A91-B860-543F-597874B97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8234" y="1557988"/>
            <a:ext cx="3466627" cy="3010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C1BDA58-D02A-6EBB-7029-12AED0B6E5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17140" y="1557988"/>
            <a:ext cx="2828327" cy="3010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338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5975" y="89725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 err="1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43772" y="1849757"/>
            <a:ext cx="3414157" cy="1647190"/>
          </a:xfrm>
          <a:prstGeom prst="roundRect">
            <a:avLst>
              <a:gd name="adj" fmla="val 7517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23477" y="2029461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Ocultar saldo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23477" y="2349500"/>
            <a:ext cx="31463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Botão para esconder e mostrar o valor no topo.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16679" y="1849757"/>
            <a:ext cx="3414157" cy="1647190"/>
          </a:xfrm>
          <a:prstGeom prst="roundRect">
            <a:avLst>
              <a:gd name="adj" fmla="val 7517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384" y="2029461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Editar perfil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384" y="2349500"/>
            <a:ext cx="31463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Altera o nome do cliente sem criar nova conta.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655696"/>
            <a:ext cx="3414157" cy="1141730"/>
          </a:xfrm>
          <a:prstGeom prst="roundRect">
            <a:avLst>
              <a:gd name="adj" fmla="val 10845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680" y="3835400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Confirmar transferência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5680" y="4155442"/>
            <a:ext cx="31463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Mostra o nome do destinatário antes de enviar o dinheiro.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82" y="3655696"/>
            <a:ext cx="3414157" cy="1141730"/>
          </a:xfrm>
          <a:prstGeom prst="roundRect">
            <a:avLst>
              <a:gd name="adj" fmla="val 10845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8587" y="3835400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Excluir conta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68587" y="4155442"/>
            <a:ext cx="31463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Cria</a:t>
            </a: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possibilidade</a:t>
            </a: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apagar a conta.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789" y="3655696"/>
            <a:ext cx="3414157" cy="1141730"/>
          </a:xfrm>
          <a:prstGeom prst="roundRect">
            <a:avLst>
              <a:gd name="adj" fmla="val 10845"/>
            </a:avLst>
          </a:prstGeom>
          <a:solidFill>
            <a:srgbClr val="FFFFFF"/>
          </a:solidFill>
          <a:ln w="6350">
            <a:solidFill>
              <a:srgbClr val="E3D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1494" y="3835400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 err="1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Validação</a:t>
            </a:r>
            <a:r>
              <a:rPr lang="en-US" sz="1600" b="1" dirty="0">
                <a:solidFill>
                  <a:srgbClr val="820AD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campos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41494" y="4155442"/>
            <a:ext cx="31463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CPF com 11 números, senhas iguais e </a:t>
            </a:r>
            <a:r>
              <a:rPr lang="en-US" sz="13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</a:t>
            </a: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00" dirty="0" err="1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positivos</a:t>
            </a:r>
            <a:r>
              <a:rPr lang="en-US" sz="1300" dirty="0">
                <a:solidFill>
                  <a:srgbClr val="5B4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5852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Tratamento de </a:t>
            </a:r>
            <a:r>
              <a:rPr lang="en-US" sz="3200" b="1" i="0" dirty="0" err="1">
                <a:solidFill>
                  <a:srgbClr val="2B0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exceções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0776"/>
            <a:ext cx="4064000" cy="2138680"/>
          </a:xfrm>
          <a:prstGeom prst="roundRect">
            <a:avLst>
              <a:gd name="adj" fmla="val 7126"/>
            </a:avLst>
          </a:prstGeom>
          <a:solidFill>
            <a:srgbClr val="2B0A45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51379"/>
            <a:ext cx="355803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DaoException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2613664"/>
            <a:ext cx="355803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Exceções</a:t>
            </a:r>
            <a:r>
              <a:rPr lang="en-US" sz="15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 DAO. Cada erro do Usuário </a:t>
            </a:r>
            <a:r>
              <a:rPr lang="en-US" sz="1500" dirty="0" err="1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cria</a:t>
            </a:r>
            <a:r>
              <a:rPr lang="en-US" sz="15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um </a:t>
            </a:r>
            <a:r>
              <a:rPr lang="en-US" sz="1500" dirty="0" err="1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alerta</a:t>
            </a:r>
            <a:r>
              <a:rPr lang="en-US" sz="15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500" dirty="0" err="1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mostrado</a:t>
            </a:r>
            <a:r>
              <a:rPr lang="en-US" sz="15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ao usuário </a:t>
            </a:r>
            <a:r>
              <a:rPr lang="en-US" sz="1500" dirty="0" err="1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</a:t>
            </a:r>
            <a:r>
              <a:rPr lang="en-US" sz="15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00" dirty="0" err="1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</a:t>
            </a:r>
            <a:r>
              <a:rPr lang="en-US" sz="1500" dirty="0">
                <a:solidFill>
                  <a:srgbClr val="E3D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nova Caixa.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47208" y="2153921"/>
            <a:ext cx="620725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Saque e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transferência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negados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caso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não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haja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saldo</a:t>
            </a:r>
            <a:endParaRPr lang="en-US" sz="1600" dirty="0">
              <a:solidFill>
                <a:srgbClr val="2A1A3A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CPF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unicos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</a:t>
            </a: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00" dirty="0" err="1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Não transfere para a própria conta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vazios, texto, zero ou negativos são recusados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A1A3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exige nome, CPF com 11 números e senhas iguais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0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2949575"/>
            <a:ext cx="10883392" cy="2114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Fim</a:t>
            </a:r>
            <a:br>
              <a:rPr lang="en-US" sz="7000" b="1" i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endParaRPr lang="en-US" sz="7000" dirty="0"/>
          </a:p>
        </p:txBody>
      </p:sp>
      <p:sp>
        <p:nvSpPr>
          <p:cNvPr id="14" name="Text 11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FA3D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JavaFX e SQL: github.com/GustavoYnada/Trabalho-JavaFX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u Banco - POO II">
  <a:themeElements>
    <a:clrScheme name="Meu Banco - POO II">
      <a:dk1>
        <a:srgbClr val="2B0A45"/>
      </a:dk1>
      <a:lt1>
        <a:srgbClr val="F7F3FA"/>
      </a:lt1>
      <a:dk2>
        <a:srgbClr val="5E4472"/>
      </a:dk2>
      <a:lt2>
        <a:srgbClr val="E3DCE8"/>
      </a:lt2>
      <a:accent1>
        <a:srgbClr val="820AD1"/>
      </a:accent1>
      <a:accent2>
        <a:srgbClr val="3D1560"/>
      </a:accent2>
      <a:accent3>
        <a:srgbClr val="C58BF2"/>
      </a:accent3>
      <a:accent4>
        <a:srgbClr val="BFA3D9"/>
      </a:accent4>
      <a:accent5>
        <a:srgbClr val="5B4A6B"/>
      </a:accent5>
      <a:accent6>
        <a:srgbClr val="7A6A8C"/>
      </a:accent6>
      <a:hlink>
        <a:srgbClr val="0563C1"/>
      </a:hlink>
      <a:folHlink>
        <a:srgbClr val="954F72"/>
      </a:folHlink>
    </a:clrScheme>
    <a:fontScheme name="Meu Banco - POO II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1087</Words>
  <Application>Microsoft Office PowerPoint</Application>
  <PresentationFormat>Widescreen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DM Sans</vt:lpstr>
      <vt:lpstr>Meu Banco - POO II</vt:lpstr>
      <vt:lpstr>Meu Banco</vt:lpstr>
      <vt:lpstr>Interface JavaFX</vt:lpstr>
      <vt:lpstr>Padrão MVC</vt:lpstr>
      <vt:lpstr>MVC e DAO</vt:lpstr>
      <vt:lpstr>Tabelas do Banco de Dados</vt:lpstr>
      <vt:lpstr>Como o CRUD aparece no sistema</vt:lpstr>
      <vt:lpstr>Tela de Login e Cadastro</vt:lpstr>
      <vt:lpstr>Tela principal e Tela de Transferência</vt:lpstr>
      <vt:lpstr>Funcionalidades</vt:lpstr>
      <vt:lpstr>Tratamento de exceções</vt:lpstr>
      <vt:lpstr>Fim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Meu Banco - POO II</dc:title>
  <dc:subject/>
  <dc:creator>Usuário</dc:creator>
  <cp:lastModifiedBy>Tasty FoX</cp:lastModifiedBy>
  <cp:revision>2</cp:revision>
  <dcterms:created xsi:type="dcterms:W3CDTF">2026-10-19T03:47:14Z</dcterms:created>
  <dcterms:modified xsi:type="dcterms:W3CDTF">2026-10-19T04:53:12Z</dcterms:modified>
</cp:coreProperties>
</file>